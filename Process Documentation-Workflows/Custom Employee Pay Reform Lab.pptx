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69" r:id="rId2"/>
    <p:sldId id="271" r:id="rId3"/>
    <p:sldId id="262"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son, Nina R CTR (USA)" initials="WNRC(" lastIdx="6" clrIdx="0">
    <p:extLst>
      <p:ext uri="{19B8F6BF-5375-455C-9EA6-DF929625EA0E}">
        <p15:presenceInfo xmlns:p15="http://schemas.microsoft.com/office/powerpoint/2012/main" userId="S-1-5-21-1417001333-1292428093-725345543-303280" providerId="AD"/>
      </p:ext>
    </p:extLst>
  </p:cmAuthor>
  <p:cmAuthor id="2" name="Jackson, La J CTR DFAS JAX (USA)" initials="JLJCDJ(" lastIdx="7" clrIdx="1">
    <p:extLst>
      <p:ext uri="{19B8F6BF-5375-455C-9EA6-DF929625EA0E}">
        <p15:presenceInfo xmlns:p15="http://schemas.microsoft.com/office/powerpoint/2012/main" userId="S-1-5-21-1417001333-1292428093-725345543-3194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9933F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8" autoAdjust="0"/>
    <p:restoredTop sz="94660"/>
  </p:normalViewPr>
  <p:slideViewPr>
    <p:cSldViewPr snapToGrid="0">
      <p:cViewPr varScale="1">
        <p:scale>
          <a:sx n="69" d="100"/>
          <a:sy n="69"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A WILSON" userId="26a881200fc4196e" providerId="LiveId" clId="{AB2183A2-A5E5-4FC3-A781-1DD06CC7F466}"/>
    <pc:docChg chg="undo custSel modSld">
      <pc:chgData name="NINA WILSON" userId="26a881200fc4196e" providerId="LiveId" clId="{AB2183A2-A5E5-4FC3-A781-1DD06CC7F466}" dt="2026-03-24T21:18:24.158" v="71" actId="1076"/>
      <pc:docMkLst>
        <pc:docMk/>
      </pc:docMkLst>
      <pc:sldChg chg="modSp mod">
        <pc:chgData name="NINA WILSON" userId="26a881200fc4196e" providerId="LiveId" clId="{AB2183A2-A5E5-4FC3-A781-1DD06CC7F466}" dt="2026-03-24T21:09:19.148" v="30" actId="207"/>
        <pc:sldMkLst>
          <pc:docMk/>
          <pc:sldMk cId="1202982652" sldId="262"/>
        </pc:sldMkLst>
        <pc:spChg chg="mod">
          <ac:chgData name="NINA WILSON" userId="26a881200fc4196e" providerId="LiveId" clId="{AB2183A2-A5E5-4FC3-A781-1DD06CC7F466}" dt="2026-03-24T21:09:19.148" v="30" actId="207"/>
          <ac:spMkLst>
            <pc:docMk/>
            <pc:sldMk cId="1202982652" sldId="262"/>
            <ac:spMk id="29" creationId="{F0A4743C-96AD-46CE-BCB2-9D04653763E9}"/>
          </ac:spMkLst>
        </pc:spChg>
        <pc:spChg chg="mod">
          <ac:chgData name="NINA WILSON" userId="26a881200fc4196e" providerId="LiveId" clId="{AB2183A2-A5E5-4FC3-A781-1DD06CC7F466}" dt="2026-03-24T21:09:19.148" v="30" actId="207"/>
          <ac:spMkLst>
            <pc:docMk/>
            <pc:sldMk cId="1202982652" sldId="262"/>
            <ac:spMk id="34" creationId="{3827E5E0-A215-4108-875A-0A3E4DC54D7B}"/>
          </ac:spMkLst>
        </pc:spChg>
        <pc:spChg chg="mod">
          <ac:chgData name="NINA WILSON" userId="26a881200fc4196e" providerId="LiveId" clId="{AB2183A2-A5E5-4FC3-A781-1DD06CC7F466}" dt="2026-03-24T21:06:46.757" v="14" actId="1076"/>
          <ac:spMkLst>
            <pc:docMk/>
            <pc:sldMk cId="1202982652" sldId="262"/>
            <ac:spMk id="58" creationId="{73CACB7D-90BB-4D65-85FD-8B38CA0D17A1}"/>
          </ac:spMkLst>
        </pc:spChg>
        <pc:spChg chg="mod">
          <ac:chgData name="NINA WILSON" userId="26a881200fc4196e" providerId="LiveId" clId="{AB2183A2-A5E5-4FC3-A781-1DD06CC7F466}" dt="2026-03-24T21:09:19.148" v="30" actId="207"/>
          <ac:spMkLst>
            <pc:docMk/>
            <pc:sldMk cId="1202982652" sldId="262"/>
            <ac:spMk id="66" creationId="{00000000-0000-0000-0000-000000000000}"/>
          </ac:spMkLst>
        </pc:spChg>
        <pc:spChg chg="mod">
          <ac:chgData name="NINA WILSON" userId="26a881200fc4196e" providerId="LiveId" clId="{AB2183A2-A5E5-4FC3-A781-1DD06CC7F466}" dt="2026-03-24T21:09:19.148" v="30" actId="207"/>
          <ac:spMkLst>
            <pc:docMk/>
            <pc:sldMk cId="1202982652" sldId="262"/>
            <ac:spMk id="68" creationId="{00000000-0000-0000-0000-000000000000}"/>
          </ac:spMkLst>
        </pc:spChg>
        <pc:spChg chg="mod">
          <ac:chgData name="NINA WILSON" userId="26a881200fc4196e" providerId="LiveId" clId="{AB2183A2-A5E5-4FC3-A781-1DD06CC7F466}" dt="2026-03-24T21:09:19.148" v="30" actId="207"/>
          <ac:spMkLst>
            <pc:docMk/>
            <pc:sldMk cId="1202982652" sldId="262"/>
            <ac:spMk id="69" creationId="{00000000-0000-0000-0000-000000000000}"/>
          </ac:spMkLst>
        </pc:spChg>
        <pc:spChg chg="mod">
          <ac:chgData name="NINA WILSON" userId="26a881200fc4196e" providerId="LiveId" clId="{AB2183A2-A5E5-4FC3-A781-1DD06CC7F466}" dt="2026-03-24T21:09:19.148" v="30" actId="207"/>
          <ac:spMkLst>
            <pc:docMk/>
            <pc:sldMk cId="1202982652" sldId="262"/>
            <ac:spMk id="72" creationId="{00000000-0000-0000-0000-000000000000}"/>
          </ac:spMkLst>
        </pc:spChg>
        <pc:spChg chg="mod">
          <ac:chgData name="NINA WILSON" userId="26a881200fc4196e" providerId="LiveId" clId="{AB2183A2-A5E5-4FC3-A781-1DD06CC7F466}" dt="2026-03-24T21:09:19.148" v="30" actId="207"/>
          <ac:spMkLst>
            <pc:docMk/>
            <pc:sldMk cId="1202982652" sldId="262"/>
            <ac:spMk id="79" creationId="{00000000-0000-0000-0000-000000000000}"/>
          </ac:spMkLst>
        </pc:spChg>
        <pc:grpChg chg="mod">
          <ac:chgData name="NINA WILSON" userId="26a881200fc4196e" providerId="LiveId" clId="{AB2183A2-A5E5-4FC3-A781-1DD06CC7F466}" dt="2026-03-24T21:06:52.974" v="15" actId="1076"/>
          <ac:grpSpMkLst>
            <pc:docMk/>
            <pc:sldMk cId="1202982652" sldId="262"/>
            <ac:grpSpMk id="57" creationId="{3970B89B-487E-466D-B14F-C4BA3B5C06F3}"/>
          </ac:grpSpMkLst>
        </pc:grpChg>
      </pc:sldChg>
      <pc:sldChg chg="addSp delSp modSp mod setBg setClrOvrMap delDesignElem">
        <pc:chgData name="NINA WILSON" userId="26a881200fc4196e" providerId="LiveId" clId="{AB2183A2-A5E5-4FC3-A781-1DD06CC7F466}" dt="2026-03-24T21:10:02.035" v="31" actId="26606"/>
        <pc:sldMkLst>
          <pc:docMk/>
          <pc:sldMk cId="3860736495" sldId="269"/>
        </pc:sldMkLst>
        <pc:spChg chg="mod">
          <ac:chgData name="NINA WILSON" userId="26a881200fc4196e" providerId="LiveId" clId="{AB2183A2-A5E5-4FC3-A781-1DD06CC7F466}" dt="2026-03-24T21:10:02.035" v="31" actId="26606"/>
          <ac:spMkLst>
            <pc:docMk/>
            <pc:sldMk cId="3860736495" sldId="269"/>
            <ac:spMk id="2" creationId="{00000000-0000-0000-0000-000000000000}"/>
          </ac:spMkLst>
        </pc:spChg>
        <pc:spChg chg="mod">
          <ac:chgData name="NINA WILSON" userId="26a881200fc4196e" providerId="LiveId" clId="{AB2183A2-A5E5-4FC3-A781-1DD06CC7F466}" dt="2026-03-24T21:10:02.035" v="31" actId="26606"/>
          <ac:spMkLst>
            <pc:docMk/>
            <pc:sldMk cId="3860736495" sldId="269"/>
            <ac:spMk id="3" creationId="{00000000-0000-0000-0000-000000000000}"/>
          </ac:spMkLst>
        </pc:spChg>
        <pc:spChg chg="add">
          <ac:chgData name="NINA WILSON" userId="26a881200fc4196e" providerId="LiveId" clId="{AB2183A2-A5E5-4FC3-A781-1DD06CC7F466}" dt="2026-03-24T21:10:02.035" v="31" actId="26606"/>
          <ac:spMkLst>
            <pc:docMk/>
            <pc:sldMk cId="3860736495" sldId="269"/>
            <ac:spMk id="5" creationId="{88C4CF77-7AF8-4122-A7B0-041ABDF16B2B}"/>
          </ac:spMkLst>
        </pc:spChg>
        <pc:spChg chg="add del">
          <ac:chgData name="NINA WILSON" userId="26a881200fc4196e" providerId="LiveId" clId="{AB2183A2-A5E5-4FC3-A781-1DD06CC7F466}" dt="2026-03-24T21:06:01.261" v="7"/>
          <ac:spMkLst>
            <pc:docMk/>
            <pc:sldMk cId="3860736495" sldId="269"/>
            <ac:spMk id="8" creationId="{61C9F4F8-1CA1-4169-A513-5E15F4D91F05}"/>
          </ac:spMkLst>
        </pc:spChg>
        <pc:spChg chg="add">
          <ac:chgData name="NINA WILSON" userId="26a881200fc4196e" providerId="LiveId" clId="{AB2183A2-A5E5-4FC3-A781-1DD06CC7F466}" dt="2026-03-24T21:10:02.035" v="31" actId="26606"/>
          <ac:spMkLst>
            <pc:docMk/>
            <pc:sldMk cId="3860736495" sldId="269"/>
            <ac:spMk id="10" creationId="{D509D458-5758-41CE-89DE-485C1BBCD86D}"/>
          </ac:spMkLst>
        </pc:spChg>
        <pc:spChg chg="add">
          <ac:chgData name="NINA WILSON" userId="26a881200fc4196e" providerId="LiveId" clId="{AB2183A2-A5E5-4FC3-A781-1DD06CC7F466}" dt="2026-03-24T21:10:02.035" v="31" actId="26606"/>
          <ac:spMkLst>
            <pc:docMk/>
            <pc:sldMk cId="3860736495" sldId="269"/>
            <ac:spMk id="12" creationId="{1D38966F-378A-47DC-83CC-D5A783224D48}"/>
          </ac:spMkLst>
        </pc:spChg>
      </pc:sldChg>
      <pc:sldChg chg="addSp delSp modSp mod setBg delDesignElem">
        <pc:chgData name="NINA WILSON" userId="26a881200fc4196e" providerId="LiveId" clId="{AB2183A2-A5E5-4FC3-A781-1DD06CC7F466}" dt="2026-03-24T21:18:24.158" v="71" actId="1076"/>
        <pc:sldMkLst>
          <pc:docMk/>
          <pc:sldMk cId="1737558345" sldId="271"/>
        </pc:sldMkLst>
        <pc:spChg chg="mod">
          <ac:chgData name="NINA WILSON" userId="26a881200fc4196e" providerId="LiveId" clId="{AB2183A2-A5E5-4FC3-A781-1DD06CC7F466}" dt="2026-03-24T21:07:11.860" v="17" actId="26606"/>
          <ac:spMkLst>
            <pc:docMk/>
            <pc:sldMk cId="1737558345" sldId="271"/>
            <ac:spMk id="2" creationId="{1AB2B1CC-FD91-4C35-B67B-4A9F4B84E03F}"/>
          </ac:spMkLst>
        </pc:spChg>
        <pc:spChg chg="mod">
          <ac:chgData name="NINA WILSON" userId="26a881200fc4196e" providerId="LiveId" clId="{AB2183A2-A5E5-4FC3-A781-1DD06CC7F466}" dt="2026-03-24T21:18:24.158" v="71" actId="1076"/>
          <ac:spMkLst>
            <pc:docMk/>
            <pc:sldMk cId="1737558345" sldId="271"/>
            <ac:spMk id="5" creationId="{DD743A01-BF18-4A29-9209-74EF586185CF}"/>
          </ac:spMkLst>
        </pc:spChg>
        <pc:spChg chg="add">
          <ac:chgData name="NINA WILSON" userId="26a881200fc4196e" providerId="LiveId" clId="{AB2183A2-A5E5-4FC3-A781-1DD06CC7F466}" dt="2026-03-24T21:07:11.860" v="17" actId="26606"/>
          <ac:spMkLst>
            <pc:docMk/>
            <pc:sldMk cId="1737558345" sldId="271"/>
            <ac:spMk id="7" creationId="{1B95C55F-4286-4A2A-A05E-2D274D82F7CC}"/>
          </ac:spMkLst>
        </pc:spChg>
        <pc:spChg chg="add">
          <ac:chgData name="NINA WILSON" userId="26a881200fc4196e" providerId="LiveId" clId="{AB2183A2-A5E5-4FC3-A781-1DD06CC7F466}" dt="2026-03-24T21:07:11.860" v="17" actId="26606"/>
          <ac:spMkLst>
            <pc:docMk/>
            <pc:sldMk cId="1737558345" sldId="271"/>
            <ac:spMk id="8" creationId="{EE2561D9-068B-4BC7-85F6-AE6A7C34BE64}"/>
          </ac:spMkLst>
        </pc:spChg>
        <pc:spChg chg="add del">
          <ac:chgData name="NINA WILSON" userId="26a881200fc4196e" providerId="LiveId" clId="{AB2183A2-A5E5-4FC3-A781-1DD06CC7F466}" dt="2026-03-24T21:05:22.209" v="3" actId="26606"/>
          <ac:spMkLst>
            <pc:docMk/>
            <pc:sldMk cId="1737558345" sldId="271"/>
            <ac:spMk id="10" creationId="{C33976D1-3430-450C-A978-87A9A6E8E71F}"/>
          </ac:spMkLst>
        </pc:spChg>
        <pc:spChg chg="add del">
          <ac:chgData name="NINA WILSON" userId="26a881200fc4196e" providerId="LiveId" clId="{AB2183A2-A5E5-4FC3-A781-1DD06CC7F466}" dt="2026-03-24T21:05:22.209" v="3" actId="26606"/>
          <ac:spMkLst>
            <pc:docMk/>
            <pc:sldMk cId="1737558345" sldId="271"/>
            <ac:spMk id="12" creationId="{7D6AAC78-7D86-415A-ADC1-2B474807960C}"/>
          </ac:spMkLst>
        </pc:spChg>
        <pc:spChg chg="add del">
          <ac:chgData name="NINA WILSON" userId="26a881200fc4196e" providerId="LiveId" clId="{AB2183A2-A5E5-4FC3-A781-1DD06CC7F466}" dt="2026-03-24T21:05:22.209" v="3" actId="26606"/>
          <ac:spMkLst>
            <pc:docMk/>
            <pc:sldMk cId="1737558345" sldId="271"/>
            <ac:spMk id="14" creationId="{F2A658D9-F185-44F1-BA33-D50320D1D078}"/>
          </ac:spMkLst>
        </pc:spChg>
        <pc:spChg chg="add">
          <ac:chgData name="NINA WILSON" userId="26a881200fc4196e" providerId="LiveId" clId="{AB2183A2-A5E5-4FC3-A781-1DD06CC7F466}" dt="2026-03-24T21:07:11.860" v="17" actId="26606"/>
          <ac:spMkLst>
            <pc:docMk/>
            <pc:sldMk cId="1737558345" sldId="271"/>
            <ac:spMk id="16" creationId="{3741B58E-3B65-4A01-A276-975AB2CF8A08}"/>
          </ac:spMkLst>
        </pc:spChg>
        <pc:spChg chg="add">
          <ac:chgData name="NINA WILSON" userId="26a881200fc4196e" providerId="LiveId" clId="{AB2183A2-A5E5-4FC3-A781-1DD06CC7F466}" dt="2026-03-24T21:07:11.860" v="17" actId="26606"/>
          <ac:spMkLst>
            <pc:docMk/>
            <pc:sldMk cId="1737558345" sldId="271"/>
            <ac:spMk id="18" creationId="{7AAC67C3-831B-4AB1-A259-DFB839CAFAFC}"/>
          </ac:spMkLst>
        </pc:spChg>
        <pc:spChg chg="add del">
          <ac:chgData name="NINA WILSON" userId="26a881200fc4196e" providerId="LiveId" clId="{AB2183A2-A5E5-4FC3-A781-1DD06CC7F466}" dt="2026-03-24T21:06:01.261" v="7"/>
          <ac:spMkLst>
            <pc:docMk/>
            <pc:sldMk cId="1737558345" sldId="271"/>
            <ac:spMk id="19" creationId="{23530FE0-C542-45A1-BCD8-935787009C64}"/>
          </ac:spMkLst>
        </pc:spChg>
        <pc:spChg chg="add">
          <ac:chgData name="NINA WILSON" userId="26a881200fc4196e" providerId="LiveId" clId="{AB2183A2-A5E5-4FC3-A781-1DD06CC7F466}" dt="2026-03-24T21:07:11.860" v="17" actId="26606"/>
          <ac:spMkLst>
            <pc:docMk/>
            <pc:sldMk cId="1737558345" sldId="271"/>
            <ac:spMk id="20" creationId="{054B3F04-9EAC-45C0-B3CE-0387EEA10A0C}"/>
          </ac:spMkLst>
        </pc:spChg>
        <pc:spChg chg="add del">
          <ac:chgData name="NINA WILSON" userId="26a881200fc4196e" providerId="LiveId" clId="{AB2183A2-A5E5-4FC3-A781-1DD06CC7F466}" dt="2026-03-24T21:06:01.261" v="7"/>
          <ac:spMkLst>
            <pc:docMk/>
            <pc:sldMk cId="1737558345" sldId="271"/>
            <ac:spMk id="21" creationId="{F2A658D9-F185-44F1-BA33-D50320D1D078}"/>
          </ac:spMkLst>
        </pc:spChg>
        <pc:spChg chg="add del">
          <ac:chgData name="NINA WILSON" userId="26a881200fc4196e" providerId="LiveId" clId="{AB2183A2-A5E5-4FC3-A781-1DD06CC7F466}" dt="2026-03-24T21:06:01.261" v="7"/>
          <ac:spMkLst>
            <pc:docMk/>
            <pc:sldMk cId="1737558345" sldId="271"/>
            <ac:spMk id="23" creationId="{BAC87F6E-526A-49B5-995D-42DB656594C9}"/>
          </ac:spMkLst>
        </pc:spChg>
        <pc:cxnChg chg="add">
          <ac:chgData name="NINA WILSON" userId="26a881200fc4196e" providerId="LiveId" clId="{AB2183A2-A5E5-4FC3-A781-1DD06CC7F466}" dt="2026-03-24T21:07:11.860" v="17" actId="26606"/>
          <ac:cxnSpMkLst>
            <pc:docMk/>
            <pc:sldMk cId="1737558345" sldId="271"/>
            <ac:cxnSpMk id="9" creationId="{D61BACF2-0F18-493C-99AB-363E6147102C}"/>
          </ac:cxnSpMkLst>
        </pc:cxnChg>
      </pc:sldChg>
    </pc:docChg>
  </pc:docChgLst>
  <pc:docChgLst>
    <pc:chgData name="NINA WILSON" userId="26a881200fc4196e" providerId="LiveId" clId="{C19094CB-136A-473F-AEBC-4974317244E4}"/>
    <pc:docChg chg="custSel modSld">
      <pc:chgData name="NINA WILSON" userId="26a881200fc4196e" providerId="LiveId" clId="{C19094CB-136A-473F-AEBC-4974317244E4}" dt="2026-05-07T02:06:18.992" v="56" actId="20577"/>
      <pc:docMkLst>
        <pc:docMk/>
      </pc:docMkLst>
      <pc:sldChg chg="modSp mod">
        <pc:chgData name="NINA WILSON" userId="26a881200fc4196e" providerId="LiveId" clId="{C19094CB-136A-473F-AEBC-4974317244E4}" dt="2026-05-07T02:06:18.992" v="56" actId="20577"/>
        <pc:sldMkLst>
          <pc:docMk/>
          <pc:sldMk cId="3860736495" sldId="269"/>
        </pc:sldMkLst>
        <pc:spChg chg="mod">
          <ac:chgData name="NINA WILSON" userId="26a881200fc4196e" providerId="LiveId" clId="{C19094CB-136A-473F-AEBC-4974317244E4}" dt="2026-05-07T02:06:18.992" v="56" actId="20577"/>
          <ac:spMkLst>
            <pc:docMk/>
            <pc:sldMk cId="3860736495" sldId="26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637322-DCF2-4380-9AB1-F3A5D5950EBC}"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86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2965996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637322-DCF2-4380-9AB1-F3A5D5950EBC}"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162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3300944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2564062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2220097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3545380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03BAD6-8A06-40E0-86B7-799AEC0CDDE6}" type="datetimeFigureOut">
              <a:rPr lang="en-US" smtClean="0"/>
              <a:t>5/6/2026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E637322-DCF2-4380-9AB1-F3A5D5950EBC}" type="slidenum">
              <a:rPr lang="en-US" smtClean="0"/>
              <a:t>‹#›</a:t>
            </a:fld>
            <a:endParaRPr lang="en-US" dirty="0"/>
          </a:p>
        </p:txBody>
      </p:sp>
    </p:spTree>
    <p:extLst>
      <p:ext uri="{BB962C8B-B14F-4D97-AF65-F5344CB8AC3E}">
        <p14:creationId xmlns:p14="http://schemas.microsoft.com/office/powerpoint/2010/main" val="2596021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4124572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2307125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1066646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203BAD6-8A06-40E0-86B7-799AEC0CDDE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637322-DCF2-4380-9AB1-F3A5D5950EBC}" type="slidenum">
              <a:rPr lang="en-US" smtClean="0"/>
              <a:t>‹#›</a:t>
            </a:fld>
            <a:endParaRPr lang="en-US" dirty="0"/>
          </a:p>
        </p:txBody>
      </p:sp>
    </p:spTree>
    <p:extLst>
      <p:ext uri="{BB962C8B-B14F-4D97-AF65-F5344CB8AC3E}">
        <p14:creationId xmlns:p14="http://schemas.microsoft.com/office/powerpoint/2010/main" val="3497700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203BAD6-8A06-40E0-86B7-799AEC0CDDE6}" type="datetimeFigureOut">
              <a:rPr lang="en-US" smtClean="0"/>
              <a:t>5/6/2026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E637322-DCF2-4380-9AB1-F3A5D5950EBC}"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91536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650"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88C4CF77-7AF8-4122-A7B0-041ABDF1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573409" y="988741"/>
            <a:ext cx="4813935" cy="4880518"/>
          </a:xfrm>
          <a:noFill/>
          <a:ln>
            <a:noFill/>
          </a:ln>
        </p:spPr>
        <p:txBody>
          <a:bodyPr wrap="square" anchor="ctr">
            <a:normAutofit/>
          </a:bodyPr>
          <a:lstStyle/>
          <a:p>
            <a:r>
              <a:rPr lang="en-US" sz="5400"/>
              <a:t>Employee Pay Reform Lab</a:t>
            </a:r>
          </a:p>
        </p:txBody>
      </p:sp>
      <p:sp>
        <p:nvSpPr>
          <p:cNvPr id="10" name="Rectangle 9">
            <a:extLst>
              <a:ext uri="{FF2B5EF4-FFF2-40B4-BE49-F238E27FC236}">
                <a16:creationId xmlns:a16="http://schemas.microsoft.com/office/drawing/2014/main" id="{D509D458-5758-41CE-89DE-485C1BBCD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tx1">
              <a:lumMod val="75000"/>
              <a:lumOff val="25000"/>
              <a:alpha val="8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2" name="Rectangle 11">
            <a:extLst>
              <a:ext uri="{FF2B5EF4-FFF2-40B4-BE49-F238E27FC236}">
                <a16:creationId xmlns:a16="http://schemas.microsoft.com/office/drawing/2014/main" id="{1D38966F-378A-47DC-83CC-D5A783224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465377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19633" y="988742"/>
            <a:ext cx="3701883" cy="4880518"/>
          </a:xfrm>
          <a:ln w="25400" cap="sq">
            <a:noFill/>
            <a:miter lim="800000"/>
          </a:ln>
        </p:spPr>
        <p:txBody>
          <a:bodyPr anchor="ctr">
            <a:normAutofit/>
          </a:bodyPr>
          <a:lstStyle/>
          <a:p>
            <a:pPr algn="ctr"/>
            <a:r>
              <a:rPr lang="en-US" dirty="0">
                <a:solidFill>
                  <a:srgbClr val="FFFFFF"/>
                </a:solidFill>
              </a:rPr>
              <a:t>Current state FINANCIAL SYSTEM Employee Pay Processes</a:t>
            </a:r>
          </a:p>
        </p:txBody>
      </p:sp>
    </p:spTree>
    <p:extLst>
      <p:ext uri="{BB962C8B-B14F-4D97-AF65-F5344CB8AC3E}">
        <p14:creationId xmlns:p14="http://schemas.microsoft.com/office/powerpoint/2010/main" val="386073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95C55F-4286-4A2A-A05E-2D274D82F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a:extLst>
              <a:ext uri="{FF2B5EF4-FFF2-40B4-BE49-F238E27FC236}">
                <a16:creationId xmlns:a16="http://schemas.microsoft.com/office/drawing/2014/main" id="{EE2561D9-068B-4BC7-85F6-AE6A7C34B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9" name="Straight Connector 8">
            <a:extLst>
              <a:ext uri="{FF2B5EF4-FFF2-40B4-BE49-F238E27FC236}">
                <a16:creationId xmlns:a16="http://schemas.microsoft.com/office/drawing/2014/main" id="{D61BACF2-0F18-493C-99AB-363E614710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AB2B1CC-FD91-4C35-B67B-4A9F4B84E03F}"/>
              </a:ext>
            </a:extLst>
          </p:cNvPr>
          <p:cNvSpPr>
            <a:spLocks noGrp="1"/>
          </p:cNvSpPr>
          <p:nvPr>
            <p:ph type="title"/>
          </p:nvPr>
        </p:nvSpPr>
        <p:spPr>
          <a:xfrm>
            <a:off x="492370" y="605896"/>
            <a:ext cx="3084844" cy="5646208"/>
          </a:xfrm>
          <a:prstGeom prst="ellipse">
            <a:avLst/>
          </a:prstGeom>
        </p:spPr>
        <p:txBody>
          <a:bodyPr vert="horz" lIns="91440" tIns="45720" rIns="91440" bIns="45720" rtlCol="0" anchor="ctr">
            <a:normAutofit/>
          </a:bodyPr>
          <a:lstStyle/>
          <a:p>
            <a:r>
              <a:rPr lang="en-US" sz="3600" cap="all">
                <a:solidFill>
                  <a:srgbClr val="FFFFFF"/>
                </a:solidFill>
              </a:rPr>
              <a:t>Overview</a:t>
            </a:r>
          </a:p>
        </p:txBody>
      </p:sp>
      <p:sp>
        <p:nvSpPr>
          <p:cNvPr id="20" name="Rectangle 19">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DD743A01-BF18-4A29-9209-74EF586185CF}"/>
              </a:ext>
            </a:extLst>
          </p:cNvPr>
          <p:cNvSpPr txBox="1"/>
          <p:nvPr/>
        </p:nvSpPr>
        <p:spPr>
          <a:xfrm>
            <a:off x="4410411" y="340524"/>
            <a:ext cx="7469571" cy="6062323"/>
          </a:xfrm>
          <a:prstGeom prst="rect">
            <a:avLst/>
          </a:prstGeom>
        </p:spPr>
        <p:txBody>
          <a:bodyPr vert="horz" lIns="0" tIns="45720" rIns="0" bIns="45720" rtlCol="0" anchor="ctr">
            <a:noAutofit/>
          </a:bodyPr>
          <a:lstStyle/>
          <a:p>
            <a:pPr defTabSz="914400">
              <a:lnSpc>
                <a:spcPct val="90000"/>
              </a:lnSpc>
              <a:spcBef>
                <a:spcPts val="1000"/>
              </a:spcBef>
              <a:buClr>
                <a:schemeClr val="accent1"/>
              </a:buClr>
            </a:pPr>
            <a:r>
              <a:rPr lang="en-US" sz="1400" b="1" dirty="0">
                <a:solidFill>
                  <a:schemeClr val="tx1">
                    <a:lumMod val="75000"/>
                    <a:lumOff val="25000"/>
                  </a:schemeClr>
                </a:solidFill>
                <a:latin typeface="+mj-lt"/>
              </a:rPr>
              <a:t>Current State:</a:t>
            </a:r>
          </a:p>
          <a:p>
            <a:pPr marL="17145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The Automated Payroll System (APS) is limited in the ability to utilize more than one line of accounting (LOA) for each employee.  Many employees supporting Fleet Sales (FS) (BSN 8242) do so on a part time basis.  Due to the limitations within APS, transactions interfacing into the Agencies Initiative System (AIS) post to the LOA affiliated with the primary LOA associated with the employee’s profile (typically O&amp;M).  For those employees who split hours between more than one LOA, a corrective entry needs to be made in AIS to ensure that the funds related to FS are accurately captured.  </a:t>
            </a:r>
          </a:p>
          <a:p>
            <a:pPr marL="22860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For FY19 and prior Minor Operating Agencies (MOAs) utilizing AIS to process employee pay transactions for part time employees charging FS (BSN 8242), must process cost transfers and distributions within AIS to accurately account for the activity, unfortunately these updates do not get sent through the interfaces beyond APS for update to AIS.</a:t>
            </a:r>
          </a:p>
          <a:p>
            <a:pPr marL="22860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For FY20 and forward, an AIS SCR was put into place that auto generates gross pay file adjustments (impacting both APC and AIS) that should allow for corrections to flow through interfaces into Financial Cash Reporting (FCR).</a:t>
            </a:r>
          </a:p>
          <a:p>
            <a:pPr indent="-228600" defTabSz="914400">
              <a:lnSpc>
                <a:spcPct val="90000"/>
              </a:lnSpc>
              <a:spcBef>
                <a:spcPts val="1000"/>
              </a:spcBef>
              <a:buClr>
                <a:schemeClr val="accent1"/>
              </a:buClr>
              <a:buFont typeface="Calibri" panose="020F0502020204030204" pitchFamily="34" charset="0"/>
              <a:buChar char="•"/>
            </a:pPr>
            <a:endParaRPr lang="en-US" sz="1100" b="1" dirty="0">
              <a:solidFill>
                <a:schemeClr val="tx1">
                  <a:lumMod val="75000"/>
                  <a:lumOff val="25000"/>
                </a:schemeClr>
              </a:solidFill>
            </a:endParaRPr>
          </a:p>
          <a:p>
            <a:pPr defTabSz="914400">
              <a:lnSpc>
                <a:spcPct val="90000"/>
              </a:lnSpc>
              <a:spcBef>
                <a:spcPts val="1000"/>
              </a:spcBef>
              <a:buClr>
                <a:schemeClr val="accent1"/>
              </a:buClr>
            </a:pPr>
            <a:r>
              <a:rPr lang="en-US" sz="1400" b="1" dirty="0">
                <a:solidFill>
                  <a:schemeClr val="tx1">
                    <a:lumMod val="75000"/>
                    <a:lumOff val="25000"/>
                  </a:schemeClr>
                </a:solidFill>
                <a:latin typeface="+mj-lt"/>
              </a:rPr>
              <a:t>Impact:</a:t>
            </a:r>
          </a:p>
          <a:p>
            <a:pPr marL="17145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Out of Balance Conditions exist between AIS, APS and Treasury related to FS which hinders case closure and obstructs accurate Fund Balance with Treasury (FBwT) Reporting.</a:t>
            </a:r>
            <a:endParaRPr lang="en-US" sz="1100" b="1" dirty="0">
              <a:solidFill>
                <a:schemeClr val="tx1">
                  <a:lumMod val="75000"/>
                  <a:lumOff val="25000"/>
                </a:schemeClr>
              </a:solidFill>
            </a:endParaRPr>
          </a:p>
          <a:p>
            <a:pPr marL="22860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Approach to identifying, and processing corrections within APS, AIS and FCR by IAs is inconsistent for FY19 and prior activity poses challenge with ensuring accurate cash balances within FCR and hinders ability to reconcile and close cases. </a:t>
            </a:r>
          </a:p>
          <a:p>
            <a:pPr marL="22860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Validation of FY20 and forward systemic fix is necessary to ensure that gross pay file adjustments are accurate and flow through interface into AIS as intended.</a:t>
            </a:r>
          </a:p>
          <a:p>
            <a:pPr indent="-228600" defTabSz="914400">
              <a:lnSpc>
                <a:spcPct val="90000"/>
              </a:lnSpc>
              <a:spcBef>
                <a:spcPts val="1000"/>
              </a:spcBef>
              <a:buClr>
                <a:schemeClr val="accent1"/>
              </a:buClr>
              <a:buFont typeface="Calibri" panose="020F0502020204030204" pitchFamily="34" charset="0"/>
              <a:buChar char="•"/>
            </a:pPr>
            <a:endParaRPr lang="en-US" sz="1100" dirty="0">
              <a:solidFill>
                <a:schemeClr val="tx1">
                  <a:lumMod val="75000"/>
                  <a:lumOff val="25000"/>
                </a:schemeClr>
              </a:solidFill>
            </a:endParaRPr>
          </a:p>
          <a:p>
            <a:pPr defTabSz="914400">
              <a:lnSpc>
                <a:spcPct val="90000"/>
              </a:lnSpc>
              <a:spcBef>
                <a:spcPts val="1000"/>
              </a:spcBef>
              <a:buClr>
                <a:schemeClr val="accent1"/>
              </a:buClr>
            </a:pPr>
            <a:r>
              <a:rPr lang="en-US" sz="1400" b="1" dirty="0">
                <a:solidFill>
                  <a:schemeClr val="tx1">
                    <a:lumMod val="75000"/>
                    <a:lumOff val="25000"/>
                  </a:schemeClr>
                </a:solidFill>
                <a:latin typeface="+mj-lt"/>
              </a:rPr>
              <a:t>Desired Outcome:</a:t>
            </a:r>
          </a:p>
          <a:p>
            <a:pPr marL="17145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Bring awareness to overarching issue impacting MOAs utilizing APS; aid in the development of consolidated way forward for FY19 and prior clean up, and reconciliation efforts across all impacted MOAs; along with defined roles and responsibilities for all parties relating to FY20 and forward activity and related reconciliations.</a:t>
            </a:r>
          </a:p>
          <a:p>
            <a:pPr marL="22860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For FY19 and prior: Define best practice for identifying employee pay processing errors related to PT employees charging 8242, and required correlating corrective action in APC, AIS, and FCR across all MOAs.</a:t>
            </a:r>
          </a:p>
          <a:p>
            <a:pPr marL="228600" indent="-171450" defTabSz="914400">
              <a:lnSpc>
                <a:spcPct val="90000"/>
              </a:lnSpc>
              <a:spcBef>
                <a:spcPts val="1000"/>
              </a:spcBef>
              <a:buClr>
                <a:schemeClr val="accent1"/>
              </a:buClr>
              <a:buFont typeface="Arial" panose="020B0604020202020204" pitchFamily="34" charset="0"/>
              <a:buChar char="•"/>
            </a:pPr>
            <a:r>
              <a:rPr lang="en-US" sz="1100" dirty="0">
                <a:solidFill>
                  <a:schemeClr val="tx1">
                    <a:lumMod val="75000"/>
                    <a:lumOff val="25000"/>
                  </a:schemeClr>
                </a:solidFill>
              </a:rPr>
              <a:t>Develop, perform and monitor 3-Way Reconciliation relative to FS transactions to track, monitor, and correct any out of balance conditions in existence after validating new APS 1081 functionality for FY20 and forward.</a:t>
            </a:r>
          </a:p>
        </p:txBody>
      </p:sp>
    </p:spTree>
    <p:extLst>
      <p:ext uri="{BB962C8B-B14F-4D97-AF65-F5344CB8AC3E}">
        <p14:creationId xmlns:p14="http://schemas.microsoft.com/office/powerpoint/2010/main" val="1737558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F24F4645-B42A-41D4-9E91-F425F1D12103}"/>
              </a:ext>
            </a:extLst>
          </p:cNvPr>
          <p:cNvSpPr txBox="1"/>
          <p:nvPr/>
        </p:nvSpPr>
        <p:spPr>
          <a:xfrm>
            <a:off x="3668181" y="1606657"/>
            <a:ext cx="1819522" cy="769441"/>
          </a:xfrm>
          <a:prstGeom prst="rect">
            <a:avLst/>
          </a:prstGeom>
          <a:noFill/>
        </p:spPr>
        <p:txBody>
          <a:bodyPr wrap="square" rtlCol="0">
            <a:spAutoFit/>
          </a:bodyPr>
          <a:lstStyle/>
          <a:p>
            <a:r>
              <a:rPr lang="en-US" sz="1100" dirty="0"/>
              <a:t>Gross Pay File</a:t>
            </a:r>
          </a:p>
          <a:p>
            <a:endParaRPr lang="en-US" sz="1100" dirty="0"/>
          </a:p>
          <a:p>
            <a:endParaRPr lang="en-US" sz="1100" dirty="0"/>
          </a:p>
          <a:p>
            <a:r>
              <a:rPr lang="en-US" sz="1100" dirty="0"/>
              <a:t>Gross Pay Adjustments File </a:t>
            </a:r>
          </a:p>
        </p:txBody>
      </p:sp>
      <p:sp>
        <p:nvSpPr>
          <p:cNvPr id="7" name="TextBox 6"/>
          <p:cNvSpPr txBox="1"/>
          <p:nvPr/>
        </p:nvSpPr>
        <p:spPr>
          <a:xfrm>
            <a:off x="32294" y="154544"/>
            <a:ext cx="11878596" cy="397032"/>
          </a:xfrm>
          <a:prstGeom prst="rect">
            <a:avLst/>
          </a:prstGeom>
          <a:noFill/>
        </p:spPr>
        <p:txBody>
          <a:bodyPr wrap="square" rtlCol="0">
            <a:spAutoFit/>
          </a:bodyPr>
          <a:lstStyle/>
          <a:p>
            <a:pPr marL="0" marR="0" lvl="0" indent="0" fontAlgn="auto">
              <a:lnSpc>
                <a:spcPct val="90000"/>
              </a:lnSpc>
              <a:spcBef>
                <a:spcPct val="0"/>
              </a:spcBef>
              <a:spcAft>
                <a:spcPts val="0"/>
              </a:spcAft>
              <a:buClrTx/>
              <a:buSzTx/>
              <a:tabLst/>
              <a:defRPr/>
            </a:pPr>
            <a:r>
              <a:rPr lang="en-US" sz="2200" dirty="0">
                <a:latin typeface="+mj-lt"/>
                <a:ea typeface="+mj-ea"/>
                <a:cs typeface="+mj-cs"/>
              </a:rPr>
              <a:t>Current State APS-AIS-FCR Transaction Flow Map</a:t>
            </a:r>
          </a:p>
        </p:txBody>
      </p:sp>
      <p:sp>
        <p:nvSpPr>
          <p:cNvPr id="66" name="Can 65"/>
          <p:cNvSpPr/>
          <p:nvPr/>
        </p:nvSpPr>
        <p:spPr>
          <a:xfrm>
            <a:off x="5486622" y="3190060"/>
            <a:ext cx="77724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latin typeface="Calibri" panose="020F0502020204030204"/>
              </a:rPr>
              <a:t>FCR</a:t>
            </a:r>
            <a:endParaRPr kumimoji="0" lang="en-US" sz="1200" b="1" i="0" u="none" strike="noStrike" kern="1200" cap="none" spc="0" normalizeH="0" baseline="0" noProof="0" dirty="0">
              <a:ln>
                <a:noFill/>
              </a:ln>
              <a:solidFill>
                <a:schemeClr val="tx1"/>
              </a:solidFill>
              <a:effectLst/>
              <a:uLnTx/>
              <a:uFillTx/>
              <a:latin typeface="Calibri" panose="020F0502020204030204"/>
            </a:endParaRPr>
          </a:p>
        </p:txBody>
      </p:sp>
      <p:sp>
        <p:nvSpPr>
          <p:cNvPr id="68" name="Can 67"/>
          <p:cNvSpPr/>
          <p:nvPr/>
        </p:nvSpPr>
        <p:spPr>
          <a:xfrm>
            <a:off x="5461635" y="1711131"/>
            <a:ext cx="77632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latin typeface="Calibri" panose="020F0502020204030204"/>
              </a:rPr>
              <a:t>AIS</a:t>
            </a:r>
            <a:endParaRPr kumimoji="0" lang="en-US" sz="1200" b="1" i="0" u="none" strike="noStrike" kern="1200" cap="none" spc="0" normalizeH="0" baseline="0" noProof="0" dirty="0">
              <a:ln>
                <a:noFill/>
              </a:ln>
              <a:solidFill>
                <a:prstClr val="white"/>
              </a:solidFill>
              <a:effectLst/>
              <a:uLnTx/>
              <a:uFillTx/>
              <a:latin typeface="Calibri" panose="020F0502020204030204"/>
            </a:endParaRPr>
          </a:p>
        </p:txBody>
      </p:sp>
      <p:sp>
        <p:nvSpPr>
          <p:cNvPr id="69" name="Can 68"/>
          <p:cNvSpPr/>
          <p:nvPr/>
        </p:nvSpPr>
        <p:spPr>
          <a:xfrm>
            <a:off x="2830194" y="1717057"/>
            <a:ext cx="77724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Calibri" panose="020F0502020204030204"/>
              </a:rPr>
              <a:t>ADS</a:t>
            </a:r>
          </a:p>
        </p:txBody>
      </p:sp>
      <p:cxnSp>
        <p:nvCxnSpPr>
          <p:cNvPr id="70" name="Straight Arrow Connector 69"/>
          <p:cNvCxnSpPr>
            <a:cxnSpLocks/>
          </p:cNvCxnSpPr>
          <p:nvPr/>
        </p:nvCxnSpPr>
        <p:spPr>
          <a:xfrm>
            <a:off x="1155014" y="2004744"/>
            <a:ext cx="142831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cxnSpLocks/>
          </p:cNvCxnSpPr>
          <p:nvPr/>
        </p:nvCxnSpPr>
        <p:spPr>
          <a:xfrm flipV="1">
            <a:off x="3752224" y="2004744"/>
            <a:ext cx="1372226"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Can 71"/>
          <p:cNvSpPr/>
          <p:nvPr/>
        </p:nvSpPr>
        <p:spPr>
          <a:xfrm>
            <a:off x="204138" y="1736722"/>
            <a:ext cx="77724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prstClr val="black"/>
                </a:solidFill>
                <a:latin typeface="Calibri" panose="020F0502020204030204"/>
              </a:rPr>
              <a:t>APS</a:t>
            </a:r>
            <a:endParaRPr kumimoji="0" lang="en-US" sz="1200" b="1" i="0" u="none" strike="noStrike" kern="1200" cap="none" spc="0" normalizeH="0" baseline="0" noProof="0" dirty="0">
              <a:ln>
                <a:noFill/>
              </a:ln>
              <a:solidFill>
                <a:prstClr val="black"/>
              </a:solidFill>
              <a:effectLst/>
              <a:uLnTx/>
              <a:uFillTx/>
              <a:latin typeface="Calibri" panose="020F0502020204030204"/>
            </a:endParaRPr>
          </a:p>
        </p:txBody>
      </p:sp>
      <p:cxnSp>
        <p:nvCxnSpPr>
          <p:cNvPr id="73" name="Straight Arrow Connector 72"/>
          <p:cNvCxnSpPr>
            <a:cxnSpLocks/>
          </p:cNvCxnSpPr>
          <p:nvPr/>
        </p:nvCxnSpPr>
        <p:spPr>
          <a:xfrm>
            <a:off x="6485942" y="3451422"/>
            <a:ext cx="12504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083185" y="1606657"/>
            <a:ext cx="1819522" cy="769441"/>
          </a:xfrm>
          <a:prstGeom prst="rect">
            <a:avLst/>
          </a:prstGeom>
          <a:noFill/>
        </p:spPr>
        <p:txBody>
          <a:bodyPr wrap="square" rtlCol="0">
            <a:spAutoFit/>
          </a:bodyPr>
          <a:lstStyle/>
          <a:p>
            <a:r>
              <a:rPr lang="en-US" sz="1100" dirty="0"/>
              <a:t>Gross Pay File</a:t>
            </a:r>
          </a:p>
          <a:p>
            <a:endParaRPr lang="en-US" sz="1100" dirty="0"/>
          </a:p>
          <a:p>
            <a:endParaRPr lang="en-US" sz="1100" dirty="0"/>
          </a:p>
          <a:p>
            <a:r>
              <a:rPr lang="en-US" sz="1100" dirty="0"/>
              <a:t>Gross Pay Adjustments File </a:t>
            </a:r>
          </a:p>
        </p:txBody>
      </p:sp>
      <p:sp>
        <p:nvSpPr>
          <p:cNvPr id="77" name="TextBox 76"/>
          <p:cNvSpPr txBox="1"/>
          <p:nvPr/>
        </p:nvSpPr>
        <p:spPr>
          <a:xfrm>
            <a:off x="2208815" y="3208642"/>
            <a:ext cx="1918410" cy="600164"/>
          </a:xfrm>
          <a:prstGeom prst="rect">
            <a:avLst/>
          </a:prstGeom>
          <a:noFill/>
        </p:spPr>
        <p:txBody>
          <a:bodyPr wrap="square" rtlCol="0">
            <a:spAutoFit/>
          </a:bodyPr>
          <a:lstStyle/>
          <a:p>
            <a:r>
              <a:rPr lang="en-US" sz="1100" dirty="0"/>
              <a:t>Gross Pay File</a:t>
            </a:r>
          </a:p>
          <a:p>
            <a:endParaRPr lang="en-US" sz="1100" dirty="0"/>
          </a:p>
          <a:p>
            <a:r>
              <a:rPr lang="en-US" sz="1100" dirty="0"/>
              <a:t>Gross Pay Adjustments File </a:t>
            </a:r>
          </a:p>
        </p:txBody>
      </p:sp>
      <p:sp>
        <p:nvSpPr>
          <p:cNvPr id="79" name="Can 78"/>
          <p:cNvSpPr/>
          <p:nvPr/>
        </p:nvSpPr>
        <p:spPr>
          <a:xfrm>
            <a:off x="7938230" y="3163239"/>
            <a:ext cx="77724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Calibri" panose="020F0502020204030204"/>
              </a:rPr>
              <a:t>ODS</a:t>
            </a:r>
            <a:endParaRPr kumimoji="0" lang="en-US" sz="1200" b="1" i="0" u="none" strike="noStrike" kern="1200" cap="none" spc="0" normalizeH="0" baseline="0" noProof="0" dirty="0">
              <a:ln>
                <a:noFill/>
              </a:ln>
              <a:solidFill>
                <a:schemeClr val="tx1"/>
              </a:solidFill>
              <a:effectLst/>
              <a:uLnTx/>
              <a:uFillTx/>
              <a:latin typeface="Calibri" panose="020F0502020204030204"/>
            </a:endParaRPr>
          </a:p>
        </p:txBody>
      </p:sp>
      <p:cxnSp>
        <p:nvCxnSpPr>
          <p:cNvPr id="80" name="Straight Arrow Connector 79"/>
          <p:cNvCxnSpPr>
            <a:cxnSpLocks/>
          </p:cNvCxnSpPr>
          <p:nvPr/>
        </p:nvCxnSpPr>
        <p:spPr>
          <a:xfrm>
            <a:off x="8955557" y="3451020"/>
            <a:ext cx="116951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467E976F-A1CF-4243-B396-D50446094D21}"/>
              </a:ext>
            </a:extLst>
          </p:cNvPr>
          <p:cNvCxnSpPr>
            <a:cxnSpLocks/>
          </p:cNvCxnSpPr>
          <p:nvPr/>
        </p:nvCxnSpPr>
        <p:spPr>
          <a:xfrm>
            <a:off x="3235277" y="2495140"/>
            <a:ext cx="2056294" cy="955880"/>
          </a:xfrm>
          <a:prstGeom prst="bentConnector3">
            <a:avLst>
              <a:gd name="adj1" fmla="val -49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Can 78">
            <a:extLst>
              <a:ext uri="{FF2B5EF4-FFF2-40B4-BE49-F238E27FC236}">
                <a16:creationId xmlns:a16="http://schemas.microsoft.com/office/drawing/2014/main" id="{F0A4743C-96AD-46CE-BCB2-9D04653763E9}"/>
              </a:ext>
            </a:extLst>
          </p:cNvPr>
          <p:cNvSpPr/>
          <p:nvPr/>
        </p:nvSpPr>
        <p:spPr>
          <a:xfrm>
            <a:off x="10311904" y="3155923"/>
            <a:ext cx="77724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Calibri" panose="020F0502020204030204"/>
              </a:rPr>
              <a:t>AIS</a:t>
            </a:r>
          </a:p>
        </p:txBody>
      </p:sp>
      <p:cxnSp>
        <p:nvCxnSpPr>
          <p:cNvPr id="31" name="Straight Arrow Connector 30">
            <a:extLst>
              <a:ext uri="{FF2B5EF4-FFF2-40B4-BE49-F238E27FC236}">
                <a16:creationId xmlns:a16="http://schemas.microsoft.com/office/drawing/2014/main" id="{9A4ED461-CF1D-4CC3-8929-48B918B680A3}"/>
              </a:ext>
            </a:extLst>
          </p:cNvPr>
          <p:cNvCxnSpPr>
            <a:cxnSpLocks/>
          </p:cNvCxnSpPr>
          <p:nvPr/>
        </p:nvCxnSpPr>
        <p:spPr>
          <a:xfrm>
            <a:off x="5813433" y="3851472"/>
            <a:ext cx="0" cy="55860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Can 78">
            <a:extLst>
              <a:ext uri="{FF2B5EF4-FFF2-40B4-BE49-F238E27FC236}">
                <a16:creationId xmlns:a16="http://schemas.microsoft.com/office/drawing/2014/main" id="{3827E5E0-A215-4108-875A-0A3E4DC54D7B}"/>
              </a:ext>
            </a:extLst>
          </p:cNvPr>
          <p:cNvSpPr/>
          <p:nvPr/>
        </p:nvSpPr>
        <p:spPr>
          <a:xfrm>
            <a:off x="5492559" y="4531554"/>
            <a:ext cx="777240" cy="548640"/>
          </a:xfrm>
          <a:prstGeom prst="can">
            <a:avLst/>
          </a:prstGeom>
          <a:solidFill>
            <a:schemeClr val="accent1">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Calibri" panose="020F0502020204030204"/>
              </a:rPr>
              <a:t>Treasury</a:t>
            </a:r>
            <a:endParaRPr kumimoji="0" lang="en-US" sz="1200" b="1" i="0" u="none" strike="noStrike" kern="1200" cap="none" spc="0" normalizeH="0" baseline="0" noProof="0" dirty="0">
              <a:ln>
                <a:noFill/>
              </a:ln>
              <a:solidFill>
                <a:schemeClr val="tx1"/>
              </a:solidFill>
              <a:effectLst/>
              <a:uLnTx/>
              <a:uFillTx/>
              <a:latin typeface="Calibri" panose="020F0502020204030204"/>
            </a:endParaRPr>
          </a:p>
        </p:txBody>
      </p:sp>
      <p:sp>
        <p:nvSpPr>
          <p:cNvPr id="22" name="Flowchart: Document 21">
            <a:extLst>
              <a:ext uri="{FF2B5EF4-FFF2-40B4-BE49-F238E27FC236}">
                <a16:creationId xmlns:a16="http://schemas.microsoft.com/office/drawing/2014/main" id="{9D3B76B3-4C09-40E6-B0C4-309801E7273E}"/>
              </a:ext>
            </a:extLst>
          </p:cNvPr>
          <p:cNvSpPr/>
          <p:nvPr/>
        </p:nvSpPr>
        <p:spPr>
          <a:xfrm>
            <a:off x="6704299" y="1012447"/>
            <a:ext cx="1415460" cy="817458"/>
          </a:xfrm>
          <a:prstGeom prst="flowChartDocument">
            <a:avLst/>
          </a:prstGeom>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t>Manual 1-sided adjustment performed by MOA</a:t>
            </a:r>
          </a:p>
        </p:txBody>
      </p:sp>
      <p:cxnSp>
        <p:nvCxnSpPr>
          <p:cNvPr id="24" name="Connector: Elbow 23">
            <a:extLst>
              <a:ext uri="{FF2B5EF4-FFF2-40B4-BE49-F238E27FC236}">
                <a16:creationId xmlns:a16="http://schemas.microsoft.com/office/drawing/2014/main" id="{9905C849-5306-468A-AC36-7522DCDCB14F}"/>
              </a:ext>
            </a:extLst>
          </p:cNvPr>
          <p:cNvCxnSpPr>
            <a:cxnSpLocks/>
          </p:cNvCxnSpPr>
          <p:nvPr/>
        </p:nvCxnSpPr>
        <p:spPr>
          <a:xfrm rot="10800000" flipV="1">
            <a:off x="5894292" y="1275382"/>
            <a:ext cx="689734" cy="361513"/>
          </a:xfrm>
          <a:prstGeom prst="bentConnector3">
            <a:avLst>
              <a:gd name="adj1" fmla="val 101096"/>
            </a:avLst>
          </a:prstGeom>
          <a:ln w="19050">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Flowchart: Document 47">
            <a:extLst>
              <a:ext uri="{FF2B5EF4-FFF2-40B4-BE49-F238E27FC236}">
                <a16:creationId xmlns:a16="http://schemas.microsoft.com/office/drawing/2014/main" id="{1C3A56ED-1C83-44C5-AE6C-FA79D2927224}"/>
              </a:ext>
            </a:extLst>
          </p:cNvPr>
          <p:cNvSpPr/>
          <p:nvPr/>
        </p:nvSpPr>
        <p:spPr>
          <a:xfrm>
            <a:off x="6720833" y="5264483"/>
            <a:ext cx="1415460" cy="785556"/>
          </a:xfrm>
          <a:prstGeom prst="flowChartDocument">
            <a:avLst/>
          </a:prstGeom>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t>Manual 304 corrections performed by Agency Accounting</a:t>
            </a:r>
          </a:p>
        </p:txBody>
      </p:sp>
      <p:cxnSp>
        <p:nvCxnSpPr>
          <p:cNvPr id="49" name="Connector: Elbow 48">
            <a:extLst>
              <a:ext uri="{FF2B5EF4-FFF2-40B4-BE49-F238E27FC236}">
                <a16:creationId xmlns:a16="http://schemas.microsoft.com/office/drawing/2014/main" id="{9E82C7F5-2B02-409E-A3C0-6CBF1CA6DD11}"/>
              </a:ext>
            </a:extLst>
          </p:cNvPr>
          <p:cNvCxnSpPr>
            <a:cxnSpLocks/>
          </p:cNvCxnSpPr>
          <p:nvPr/>
        </p:nvCxnSpPr>
        <p:spPr>
          <a:xfrm rot="10800000">
            <a:off x="5900230" y="5201678"/>
            <a:ext cx="761874" cy="323013"/>
          </a:xfrm>
          <a:prstGeom prst="bentConnector3">
            <a:avLst>
              <a:gd name="adj1" fmla="val 98758"/>
            </a:avLst>
          </a:prstGeom>
          <a:ln w="19050">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95A002B-772B-497F-A932-097AE8CE83B6}"/>
              </a:ext>
            </a:extLst>
          </p:cNvPr>
          <p:cNvCxnSpPr/>
          <p:nvPr/>
        </p:nvCxnSpPr>
        <p:spPr>
          <a:xfrm flipV="1">
            <a:off x="5981700" y="3851472"/>
            <a:ext cx="0" cy="558603"/>
          </a:xfrm>
          <a:prstGeom prst="straightConnector1">
            <a:avLst/>
          </a:prstGeom>
          <a:ln w="19050">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quot;Not Allowed&quot; Symbol 44">
            <a:extLst>
              <a:ext uri="{FF2B5EF4-FFF2-40B4-BE49-F238E27FC236}">
                <a16:creationId xmlns:a16="http://schemas.microsoft.com/office/drawing/2014/main" id="{48099C7D-7529-4C5A-8506-6D6FB3902FA4}"/>
              </a:ext>
            </a:extLst>
          </p:cNvPr>
          <p:cNvSpPr/>
          <p:nvPr/>
        </p:nvSpPr>
        <p:spPr>
          <a:xfrm>
            <a:off x="6276081" y="2061255"/>
            <a:ext cx="387320" cy="397032"/>
          </a:xfrm>
          <a:prstGeom prst="noSmoking">
            <a:avLst>
              <a:gd name="adj" fmla="val 954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BC9A970E-A07D-460F-9D10-4DBF41043374}"/>
              </a:ext>
            </a:extLst>
          </p:cNvPr>
          <p:cNvSpPr txBox="1"/>
          <p:nvPr/>
        </p:nvSpPr>
        <p:spPr>
          <a:xfrm>
            <a:off x="6609258" y="2445170"/>
            <a:ext cx="2620619" cy="461665"/>
          </a:xfrm>
          <a:prstGeom prst="rect">
            <a:avLst/>
          </a:prstGeom>
          <a:noFill/>
        </p:spPr>
        <p:txBody>
          <a:bodyPr wrap="square" rtlCol="0">
            <a:spAutoFit/>
          </a:bodyPr>
          <a:lstStyle/>
          <a:p>
            <a:r>
              <a:rPr lang="en-US" sz="1200" dirty="0"/>
              <a:t>Corrections made to both AIS and Treasury do not flow to APS</a:t>
            </a:r>
          </a:p>
        </p:txBody>
      </p:sp>
      <p:sp>
        <p:nvSpPr>
          <p:cNvPr id="64" name="&quot;Not Allowed&quot; Symbol 63">
            <a:extLst>
              <a:ext uri="{FF2B5EF4-FFF2-40B4-BE49-F238E27FC236}">
                <a16:creationId xmlns:a16="http://schemas.microsoft.com/office/drawing/2014/main" id="{42F901BB-DA27-433A-9C0E-830037890593}"/>
              </a:ext>
            </a:extLst>
          </p:cNvPr>
          <p:cNvSpPr/>
          <p:nvPr/>
        </p:nvSpPr>
        <p:spPr>
          <a:xfrm>
            <a:off x="6274784" y="2895877"/>
            <a:ext cx="387320" cy="397032"/>
          </a:xfrm>
          <a:prstGeom prst="noSmoking">
            <a:avLst>
              <a:gd name="adj" fmla="val 954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7" name="Group 56">
            <a:extLst>
              <a:ext uri="{FF2B5EF4-FFF2-40B4-BE49-F238E27FC236}">
                <a16:creationId xmlns:a16="http://schemas.microsoft.com/office/drawing/2014/main" id="{3970B89B-487E-466D-B14F-C4BA3B5C06F3}"/>
              </a:ext>
            </a:extLst>
          </p:cNvPr>
          <p:cNvGrpSpPr/>
          <p:nvPr/>
        </p:nvGrpSpPr>
        <p:grpSpPr>
          <a:xfrm>
            <a:off x="10086805" y="4697296"/>
            <a:ext cx="2004677" cy="1596831"/>
            <a:chOff x="204137" y="5080194"/>
            <a:chExt cx="2004677" cy="1596831"/>
          </a:xfrm>
        </p:grpSpPr>
        <p:grpSp>
          <p:nvGrpSpPr>
            <p:cNvPr id="83" name="Group 82">
              <a:extLst>
                <a:ext uri="{FF2B5EF4-FFF2-40B4-BE49-F238E27FC236}">
                  <a16:creationId xmlns:a16="http://schemas.microsoft.com/office/drawing/2014/main" id="{4D5E5549-60D1-4203-9035-E2A4B65A652A}"/>
                </a:ext>
              </a:extLst>
            </p:cNvPr>
            <p:cNvGrpSpPr/>
            <p:nvPr/>
          </p:nvGrpSpPr>
          <p:grpSpPr>
            <a:xfrm>
              <a:off x="204137" y="5080194"/>
              <a:ext cx="2004677" cy="1596831"/>
              <a:chOff x="204137" y="5333888"/>
              <a:chExt cx="2004677" cy="1000237"/>
            </a:xfrm>
          </p:grpSpPr>
          <p:sp>
            <p:nvSpPr>
              <p:cNvPr id="84" name="TextBox 83">
                <a:extLst>
                  <a:ext uri="{FF2B5EF4-FFF2-40B4-BE49-F238E27FC236}">
                    <a16:creationId xmlns:a16="http://schemas.microsoft.com/office/drawing/2014/main" id="{92698845-82B7-4988-AF4E-603094F21399}"/>
                  </a:ext>
                </a:extLst>
              </p:cNvPr>
              <p:cNvSpPr txBox="1"/>
              <p:nvPr/>
            </p:nvSpPr>
            <p:spPr>
              <a:xfrm>
                <a:off x="239744" y="5438663"/>
                <a:ext cx="1958228" cy="636200"/>
              </a:xfrm>
              <a:prstGeom prst="rect">
                <a:avLst/>
              </a:prstGeom>
              <a:noFill/>
            </p:spPr>
            <p:txBody>
              <a:bodyPr wrap="none" rtlCol="0">
                <a:spAutoFit/>
              </a:bodyPr>
              <a:lstStyle/>
              <a:p>
                <a:pPr algn="ctr"/>
                <a:r>
                  <a:rPr lang="en-US" sz="1200" dirty="0"/>
                  <a:t>Systemic Data Flow</a:t>
                </a:r>
              </a:p>
              <a:p>
                <a:pPr algn="ctr"/>
                <a:endParaRPr lang="en-US" sz="1200" dirty="0"/>
              </a:p>
              <a:p>
                <a:pPr algn="ctr"/>
                <a:r>
                  <a:rPr lang="en-US" sz="1200" dirty="0"/>
                  <a:t>Corrective Action  Data Flow</a:t>
                </a:r>
              </a:p>
              <a:p>
                <a:pPr algn="ctr"/>
                <a:endParaRPr lang="en-US" sz="1200" dirty="0"/>
              </a:p>
              <a:p>
                <a:pPr algn="ctr"/>
                <a:r>
                  <a:rPr lang="en-US" sz="1200" dirty="0"/>
                  <a:t>Process Deficiency</a:t>
                </a:r>
              </a:p>
            </p:txBody>
          </p:sp>
          <p:sp>
            <p:nvSpPr>
              <p:cNvPr id="85" name="Rectangle 84">
                <a:extLst>
                  <a:ext uri="{FF2B5EF4-FFF2-40B4-BE49-F238E27FC236}">
                    <a16:creationId xmlns:a16="http://schemas.microsoft.com/office/drawing/2014/main" id="{0376C7E0-4F3D-4C5D-BC28-735F52CD54FD}"/>
                  </a:ext>
                </a:extLst>
              </p:cNvPr>
              <p:cNvSpPr/>
              <p:nvPr/>
            </p:nvSpPr>
            <p:spPr>
              <a:xfrm>
                <a:off x="204137" y="5333888"/>
                <a:ext cx="2004677" cy="100023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6" name="Straight Arrow Connector 85">
                <a:extLst>
                  <a:ext uri="{FF2B5EF4-FFF2-40B4-BE49-F238E27FC236}">
                    <a16:creationId xmlns:a16="http://schemas.microsoft.com/office/drawing/2014/main" id="{C246CA35-FCF0-41A5-AE23-A07559588A06}"/>
                  </a:ext>
                </a:extLst>
              </p:cNvPr>
              <p:cNvCxnSpPr>
                <a:cxnSpLocks/>
              </p:cNvCxnSpPr>
              <p:nvPr/>
            </p:nvCxnSpPr>
            <p:spPr>
              <a:xfrm flipV="1">
                <a:off x="705849" y="5645382"/>
                <a:ext cx="961026"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33B158D-9894-404C-920A-C524E54AA41F}"/>
                  </a:ext>
                </a:extLst>
              </p:cNvPr>
              <p:cNvCxnSpPr>
                <a:cxnSpLocks/>
              </p:cNvCxnSpPr>
              <p:nvPr/>
            </p:nvCxnSpPr>
            <p:spPr>
              <a:xfrm flipV="1">
                <a:off x="745439" y="5884721"/>
                <a:ext cx="921436" cy="1"/>
              </a:xfrm>
              <a:prstGeom prst="straightConnector1">
                <a:avLst/>
              </a:prstGeom>
              <a:ln w="19050">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88" name="&quot;Not Allowed&quot; Symbol 87">
              <a:extLst>
                <a:ext uri="{FF2B5EF4-FFF2-40B4-BE49-F238E27FC236}">
                  <a16:creationId xmlns:a16="http://schemas.microsoft.com/office/drawing/2014/main" id="{4E80473D-5882-425A-9290-7C213DBE4ED7}"/>
                </a:ext>
              </a:extLst>
            </p:cNvPr>
            <p:cNvSpPr/>
            <p:nvPr/>
          </p:nvSpPr>
          <p:spPr>
            <a:xfrm>
              <a:off x="1066053" y="6283170"/>
              <a:ext cx="331017" cy="309972"/>
            </a:xfrm>
            <a:prstGeom prst="noSmoking">
              <a:avLst>
                <a:gd name="adj" fmla="val 954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8" name="TextBox 57">
            <a:extLst>
              <a:ext uri="{FF2B5EF4-FFF2-40B4-BE49-F238E27FC236}">
                <a16:creationId xmlns:a16="http://schemas.microsoft.com/office/drawing/2014/main" id="{73CACB7D-90BB-4D65-85FD-8B38CA0D17A1}"/>
              </a:ext>
            </a:extLst>
          </p:cNvPr>
          <p:cNvSpPr txBox="1"/>
          <p:nvPr/>
        </p:nvSpPr>
        <p:spPr>
          <a:xfrm>
            <a:off x="-6431" y="5647308"/>
            <a:ext cx="3998754" cy="738664"/>
          </a:xfrm>
          <a:prstGeom prst="rect">
            <a:avLst/>
          </a:prstGeom>
          <a:noFill/>
        </p:spPr>
        <p:txBody>
          <a:bodyPr wrap="square" rtlCol="0">
            <a:spAutoFit/>
          </a:bodyPr>
          <a:lstStyle/>
          <a:p>
            <a:r>
              <a:rPr lang="en-US" sz="1400" dirty="0"/>
              <a:t>Gross Pay Adjustments File represents adjustments made by Minor Operating Agency within a 2-week period of initial posing</a:t>
            </a:r>
          </a:p>
        </p:txBody>
      </p:sp>
      <p:sp>
        <p:nvSpPr>
          <p:cNvPr id="91" name="Flowchart: Document 90">
            <a:extLst>
              <a:ext uri="{FF2B5EF4-FFF2-40B4-BE49-F238E27FC236}">
                <a16:creationId xmlns:a16="http://schemas.microsoft.com/office/drawing/2014/main" id="{DD4F3230-E5F8-4F38-A6D9-7BF25F64700D}"/>
              </a:ext>
            </a:extLst>
          </p:cNvPr>
          <p:cNvSpPr/>
          <p:nvPr/>
        </p:nvSpPr>
        <p:spPr>
          <a:xfrm>
            <a:off x="9976420" y="1640829"/>
            <a:ext cx="1415460" cy="817458"/>
          </a:xfrm>
          <a:prstGeom prst="flowChartDocument">
            <a:avLst/>
          </a:prstGeom>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t>Consolidated correction file uploaded by Agency Accounting </a:t>
            </a:r>
          </a:p>
        </p:txBody>
      </p:sp>
      <p:cxnSp>
        <p:nvCxnSpPr>
          <p:cNvPr id="95" name="Straight Arrow Connector 94">
            <a:extLst>
              <a:ext uri="{FF2B5EF4-FFF2-40B4-BE49-F238E27FC236}">
                <a16:creationId xmlns:a16="http://schemas.microsoft.com/office/drawing/2014/main" id="{A9B341E0-5445-443F-A001-66C0C2A56A19}"/>
              </a:ext>
            </a:extLst>
          </p:cNvPr>
          <p:cNvCxnSpPr>
            <a:cxnSpLocks/>
          </p:cNvCxnSpPr>
          <p:nvPr/>
        </p:nvCxnSpPr>
        <p:spPr>
          <a:xfrm>
            <a:off x="10684150" y="2495140"/>
            <a:ext cx="16374" cy="537129"/>
          </a:xfrm>
          <a:prstGeom prst="straightConnector1">
            <a:avLst/>
          </a:prstGeom>
          <a:ln w="19050">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98265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7944</TotalTime>
  <Words>553</Words>
  <Application>Microsoft Office PowerPoint</Application>
  <PresentationFormat>Widescreen</PresentationFormat>
  <Paragraphs>46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Retrospect</vt:lpstr>
      <vt:lpstr>Employee Pay Reform Lab</vt:lpstr>
      <vt:lpstr>Overview</vt:lpstr>
      <vt:lpstr>PowerPoint Presentation</vt:lpstr>
    </vt:vector>
  </TitlesOfParts>
  <Company>Defense Finance and Accounting Services (DFAS)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Keller, Hayden R CTR DFAS JAX (USA)</dc:creator>
  <cp:lastModifiedBy>NINA WILSON</cp:lastModifiedBy>
  <cp:revision>205</cp:revision>
  <dcterms:created xsi:type="dcterms:W3CDTF">2020-01-17T18:45:30Z</dcterms:created>
  <dcterms:modified xsi:type="dcterms:W3CDTF">2026-05-07T02:06:27Z</dcterms:modified>
</cp:coreProperties>
</file>